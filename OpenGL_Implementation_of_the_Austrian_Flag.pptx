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547403"/>
            <a:ext cx="3929063" cy="1337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000000"/>
                </a:solidFill>
              </a:rPr>
              <a:t>Austrian Flag Rendering with OpenGL</a:t>
            </a:r>
            <a:endParaRPr lang="en-US" sz="2649" dirty="0"/>
          </a:p>
        </p:txBody>
      </p:sp>
      <p:sp>
        <p:nvSpPr>
          <p:cNvPr id="4" name="Text 1"/>
          <p:cNvSpPr/>
          <p:nvPr/>
        </p:nvSpPr>
        <p:spPr>
          <a:xfrm>
            <a:off x="428625" y="3027555"/>
            <a:ext cx="39290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A study of basic 3D graphics programming using C++ and modern OpenGL libraries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28625" y="3793331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Repository: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Cyb3R0xSASA/elnmsa-flag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28625" y="4084774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Technologies: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OpenGL, GLFW, GLAD, GLM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28625" y="4376217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Language: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C++</a:t>
            </a:r>
            <a:endParaRPr lang="en-US" sz="784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531" y="1737522"/>
            <a:ext cx="2500313" cy="16684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098017"/>
            <a:ext cx="385762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00000"/>
                </a:solidFill>
              </a:rPr>
              <a:t>A Minimalist OpenGL Graphics Demo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428625" y="2138102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GOAL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2370274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Render a simple 2D object—the Austrian flag—using a modern OpenGL pipeline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2891768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FOCUS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3123940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Demonstrates the fundamental setup required for any OpenGL application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3645433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KEY COMPONENTS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3877605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Initialization, shader compilation, vertex buffer management, and rendering loop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4399099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EDUCATIONAL VALUE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28625" y="4631271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Clear, concise example for learning the basics of C++ graphics programming</a:t>
            </a:r>
            <a:endParaRPr lang="en-US" sz="834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3" y="1571625"/>
            <a:ext cx="200025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214438"/>
            <a:ext cx="5929313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00000"/>
                </a:solidFill>
              </a:rPr>
              <a:t>Modern OpenGL: A Foundation for Graphics</a:t>
            </a:r>
            <a:endParaRPr lang="en-US" sz="2226" dirty="0"/>
          </a:p>
        </p:txBody>
      </p:sp>
      <p:sp>
        <p:nvSpPr>
          <p:cNvPr id="4" name="Shape 1"/>
          <p:cNvSpPr/>
          <p:nvPr/>
        </p:nvSpPr>
        <p:spPr>
          <a:xfrm>
            <a:off x="428625" y="2254523"/>
            <a:ext cx="877035" cy="383977"/>
          </a:xfrm>
          <a:prstGeom prst="rect">
            <a:avLst/>
          </a:prstGeom>
          <a:solidFill>
            <a:srgbClr val="ED293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254523"/>
            <a:ext cx="877035" cy="38397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Technology</a:t>
            </a:r>
            <a:endParaRPr lang="en-US" sz="784" dirty="0"/>
          </a:p>
        </p:txBody>
      </p:sp>
      <p:sp>
        <p:nvSpPr>
          <p:cNvPr id="6" name="Shape 3"/>
          <p:cNvSpPr/>
          <p:nvPr/>
        </p:nvSpPr>
        <p:spPr>
          <a:xfrm>
            <a:off x="1305660" y="2254523"/>
            <a:ext cx="1362670" cy="383977"/>
          </a:xfrm>
          <a:prstGeom prst="rect">
            <a:avLst/>
          </a:prstGeom>
          <a:solidFill>
            <a:srgbClr val="ED2939"/>
          </a:solidFill>
          <a:ln/>
        </p:spPr>
      </p:sp>
      <p:sp>
        <p:nvSpPr>
          <p:cNvPr id="7" name="Text 4"/>
          <p:cNvSpPr/>
          <p:nvPr/>
        </p:nvSpPr>
        <p:spPr>
          <a:xfrm>
            <a:off x="1305660" y="2254523"/>
            <a:ext cx="1362670" cy="38397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Role in Project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2668330" y="2254523"/>
            <a:ext cx="3689607" cy="383977"/>
          </a:xfrm>
          <a:prstGeom prst="rect">
            <a:avLst/>
          </a:prstGeom>
          <a:solidFill>
            <a:srgbClr val="ED2939"/>
          </a:solidFill>
          <a:ln/>
        </p:spPr>
      </p:sp>
      <p:sp>
        <p:nvSpPr>
          <p:cNvPr id="9" name="Text 6"/>
          <p:cNvSpPr/>
          <p:nvPr/>
        </p:nvSpPr>
        <p:spPr>
          <a:xfrm>
            <a:off x="2668330" y="2254523"/>
            <a:ext cx="3689607" cy="38397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Description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28625" y="2638499"/>
            <a:ext cx="877035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OpenGL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1305660" y="2638499"/>
            <a:ext cx="1362670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Graphics API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2668330" y="2638499"/>
            <a:ext cx="3689607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Industry-standard API for rendering 2D and 3D vector graphics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28625" y="3031406"/>
            <a:ext cx="877035" cy="39647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GLFW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1305660" y="3031406"/>
            <a:ext cx="1362670" cy="39647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Window Management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668330" y="3031406"/>
            <a:ext cx="3689607" cy="39647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Handles window creation, context management, and user input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428625" y="3427884"/>
            <a:ext cx="877035" cy="39647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GLAD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1305660" y="3427884"/>
            <a:ext cx="1362670" cy="39647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Function Loader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668330" y="3427884"/>
            <a:ext cx="3689607" cy="39647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Loads all necessary OpenGL function pointers for the OS and driver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428625" y="3824362"/>
            <a:ext cx="877035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GLM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1305660" y="3824362"/>
            <a:ext cx="1362670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Math Library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2668330" y="3824362"/>
            <a:ext cx="3689607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Provides vector and matrix math utilities for graphics programming</a:t>
            </a:r>
            <a:endParaRPr lang="en-US" sz="78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406" y="1000125"/>
            <a:ext cx="2143125" cy="12055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088" y="428625"/>
            <a:ext cx="5295444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00000"/>
                </a:solidFill>
              </a:rPr>
              <a:t>Establishing the Graphics Context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428625" y="1285875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GLFW INITIALIZATION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1546622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Creates the main application window and the OpenGL context. The initialization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process checks for success and terminates gracefully if it fails. </a:t>
            </a:r>
            <a:pPr algn="l" indent="0" marL="0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Lines 41-59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4714875" y="1285875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CONTEXT HINTS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714875" y="1546622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Specifies the OpenGL version (3.3 Core Profile) to ensure modern features are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used. This ensures compatibility with the shader code and modern graphics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techniques. </a:t>
            </a:r>
            <a:pPr algn="l" indent="0" marL="0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Lines 47-49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28625" y="2346722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GLAD LOADING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2607469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Crucial step to access the OpenGL functions provided by the driver. GLAD loads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all necessary function pointers for the specific operating system and graphics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driver. </a:t>
            </a:r>
            <a:pPr algn="l" indent="0" marL="0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Lines 63-67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714875" y="2346722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INPUT HANDLING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714875" y="2607469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A simple processInput function checks for the ESC key to close the window. This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provides basic user interaction and graceful application termination. </a:t>
            </a:r>
            <a:pPr algn="l" indent="0" marL="0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Lines 32-</a:t>
            </a:r>
            <a:pPr algn="l" indent="0" marL="0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35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344476"/>
            <a:ext cx="6143625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00000"/>
                </a:solidFill>
              </a:rPr>
              <a:t>Vector Mathematics for Color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428625" y="1807369"/>
            <a:ext cx="6143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WHAT IS GLM?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2039541"/>
            <a:ext cx="6143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 header-only C++ library designed to work seamlessly with OpenGL's data types and mathematical operations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2350991"/>
            <a:ext cx="6143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COLOR REPRESENTATION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2583163"/>
            <a:ext cx="6143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Colors are defined as 3-component vectors (glm::vec3) representing Red, Green, and Blue (RGB) channels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2894614"/>
            <a:ext cx="6143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AUSTRIAN FLAG COLORS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971550" y="3195544"/>
            <a:ext cx="14826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RED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971550" y="3350921"/>
            <a:ext cx="14826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glm::vec3(0.749f, 0.184f, 0.184f)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971550" y="3681319"/>
            <a:ext cx="11393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WHITE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971550" y="3836696"/>
            <a:ext cx="11393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glm::vec3(1.0f, 1.0f, 1.0f)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28625" y="4184061"/>
            <a:ext cx="6143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GPU EFFICIENCY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28625" y="4416233"/>
            <a:ext cx="6143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GLM ensures color data is stored in a format optimized for GPU processing and rendering</a:t>
            </a:r>
            <a:endParaRPr lang="en-US" sz="834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1656"/>
            <a:ext cx="2000250" cy="15001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1463" y="428625"/>
            <a:ext cx="3091402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00000"/>
                </a:solidFill>
              </a:rPr>
              <a:t>From Data to Shape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428625" y="1500188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THE FLAG'S SHAPE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1789509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flag is composed of three horizontal rectangles: two red sections (top and bottom) and one white section (middle). Each rectangle is rendered using two triangles.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4714875" y="1500188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VERTEX DATA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714875" y="1789509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Total Vertices:</a:t>
            </a:r>
            <a:endParaRPr lang="en-US" sz="734" dirty="0"/>
          </a:p>
        </p:txBody>
      </p:sp>
      <p:sp>
        <p:nvSpPr>
          <p:cNvPr id="8" name="Shape 5"/>
          <p:cNvSpPr/>
          <p:nvPr/>
        </p:nvSpPr>
        <p:spPr>
          <a:xfrm>
            <a:off x="4714875" y="1989534"/>
            <a:ext cx="4000500" cy="27430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4714875" y="1989534"/>
            <a:ext cx="4000500" cy="27430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12 points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714875" y="2349568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Data per Vertex:</a:t>
            </a:r>
            <a:endParaRPr lang="en-US" sz="734" dirty="0"/>
          </a:p>
        </p:txBody>
      </p:sp>
      <p:sp>
        <p:nvSpPr>
          <p:cNvPr id="11" name="Shape 8"/>
          <p:cNvSpPr/>
          <p:nvPr/>
        </p:nvSpPr>
        <p:spPr>
          <a:xfrm>
            <a:off x="4714875" y="2549593"/>
            <a:ext cx="4000500" cy="27430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4714875" y="2549593"/>
            <a:ext cx="4000500" cy="27430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x, y, r, g, b (5 floats)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714875" y="2909627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Structure:</a:t>
            </a:r>
            <a:endParaRPr lang="en-US" sz="734" dirty="0"/>
          </a:p>
        </p:txBody>
      </p:sp>
      <p:sp>
        <p:nvSpPr>
          <p:cNvPr id="14" name="Shape 11"/>
          <p:cNvSpPr/>
          <p:nvPr/>
        </p:nvSpPr>
        <p:spPr>
          <a:xfrm>
            <a:off x="4714875" y="3109652"/>
            <a:ext cx="4000500" cy="27430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4714875" y="3109652"/>
            <a:ext cx="4000500" cy="27430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Position (2D) + Color (RGB)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28625" y="3905455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INDEX BUFFER (ELEMENT BUFFER OBJECT)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28625" y="4194777"/>
            <a:ext cx="8286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indices array defines how vertices are connected to form triangles. Each rectangle requires 6 indices (2 triangles × 3 vertices per triangle). With 3 rectangles, the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total is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D2939"/>
                </a:solidFill>
              </a:rPr>
              <a:t>18 indices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. This approach allows efficient reuse of vertex data and clear definition of the drawing order.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428625"/>
            <a:ext cx="82296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00000"/>
                </a:solidFill>
              </a:rPr>
              <a:t>Preparing Data for the GPU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485775" y="1162980"/>
            <a:ext cx="3971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VAO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85775" y="1423727"/>
            <a:ext cx="39719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Vertex Array Object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85775" y="1650541"/>
            <a:ext cx="3971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Stores the configuration of the VBO and attribute pointers. Acts as a container that remembers how vertex data is organized and interpreted.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4743450" y="1162980"/>
            <a:ext cx="3971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VBO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743450" y="1423727"/>
            <a:ext cx="39719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Vertex Buffer Object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743450" y="1650541"/>
            <a:ext cx="3971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Holds the actual vertex data including coordinates and colors. Stores raw geometric information that will be processed by the GPU.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85775" y="2279191"/>
            <a:ext cx="3971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EBO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85775" y="2539938"/>
            <a:ext cx="39719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Element Buffer Object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85775" y="2766752"/>
            <a:ext cx="3971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Holds the indices that determine the order of drawing. Specifies which vertices form each triangle, enabling efficient geometry definition.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743450" y="2279191"/>
            <a:ext cx="3971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ATTRIBUTE POINTERS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743450" y="2539938"/>
            <a:ext cx="39719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Data Interpretation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743450" y="2766752"/>
            <a:ext cx="3971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Tell OpenGL how to interpret the raw data in the VBO. Define the layout of vertex attributes such as position and color in memory.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518465"/>
            <a:ext cx="57150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00000"/>
                </a:solidFill>
              </a:rPr>
              <a:t>The GPU's Program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428625" y="2181383"/>
            <a:ext cx="5715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333333"/>
                </a:solidFill>
              </a:rPr>
              <a:t>Shaders are small programs that run directly on the GPU, defining how geometry is transformed and how pixels are colored.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428625" y="2761422"/>
            <a:ext cx="5715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D2939"/>
                </a:solidFill>
              </a:rPr>
              <a:t>VERTEX SHADER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28625" y="3041814"/>
            <a:ext cx="5715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Responsible for processing vertex data. In this project, it primarily passes the position and color data through to the next stage of the graphics pipeline.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28625" y="3657572"/>
            <a:ext cx="5715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D2939"/>
                </a:solidFill>
              </a:rPr>
              <a:t>FRAGMENT SHADER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28625" y="3937964"/>
            <a:ext cx="5715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Responsible for calculating the final color of each pixel (fragment). It takes the interpolated color from the vertex shader and outputs the final color to the screen.</a:t>
            </a:r>
            <a:endParaRPr lang="en-US" sz="834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1888629"/>
            <a:ext cx="2428875" cy="13662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428625"/>
            <a:ext cx="82296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00000"/>
                </a:solidFill>
              </a:rPr>
              <a:t>Continuous Drawing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485775" y="1091543"/>
            <a:ext cx="82296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The Heart of the Application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85775" y="1425513"/>
            <a:ext cx="21411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</a:t>
            </a:r>
            <a:endParaRPr lang="en-US" sz="780" dirty="0"/>
          </a:p>
        </p:txBody>
      </p:sp>
      <p:sp>
        <p:nvSpPr>
          <p:cNvPr id="6" name="Shape 3"/>
          <p:cNvSpPr/>
          <p:nvPr/>
        </p:nvSpPr>
        <p:spPr>
          <a:xfrm>
            <a:off x="699892" y="1366577"/>
            <a:ext cx="2250811" cy="27430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4"/>
          <p:cNvSpPr/>
          <p:nvPr/>
        </p:nvSpPr>
        <p:spPr>
          <a:xfrm>
            <a:off x="699892" y="1366577"/>
            <a:ext cx="2250811" cy="27430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while (!glfwWindowShouldClose(window))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950704" y="1425513"/>
            <a:ext cx="546164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loop runs continuously until the user closes the window. This loop is where all rendering happens, executing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85775" y="1653387"/>
            <a:ext cx="262845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many times per second to create smooth animation.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85775" y="1898061"/>
            <a:ext cx="82296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Input Polling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85775" y="2232031"/>
            <a:ext cx="35109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Checks for user events such as keyboard input or window events. The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3996761" y="2173095"/>
            <a:ext cx="1285512" cy="27430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0"/>
          <p:cNvSpPr/>
          <p:nvPr/>
        </p:nvSpPr>
        <p:spPr>
          <a:xfrm>
            <a:off x="3996761" y="2173095"/>
            <a:ext cx="1285512" cy="27430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processInput(window)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282273" y="2232031"/>
            <a:ext cx="286997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function monitors for the ESC key press to allow graceful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485775" y="2459906"/>
            <a:ext cx="120765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application termination.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485775" y="2704579"/>
            <a:ext cx="82296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Clearing the Screen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485775" y="2979613"/>
            <a:ext cx="1724546" cy="27430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5"/>
          <p:cNvSpPr/>
          <p:nvPr/>
        </p:nvSpPr>
        <p:spPr>
          <a:xfrm>
            <a:off x="485775" y="2979613"/>
            <a:ext cx="1724546" cy="27430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glClear(GL_COLOR_BUFFER_BIT)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2210321" y="3038549"/>
            <a:ext cx="63900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resets the drawing surface by clearing the color buffer. This ensures each frame starts fresh without artifacts from the previous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485775" y="3266424"/>
            <a:ext cx="32844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frame.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485775" y="3511097"/>
            <a:ext cx="82296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Drawing Command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485775" y="3786132"/>
            <a:ext cx="3034531" cy="27430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0"/>
          <p:cNvSpPr/>
          <p:nvPr/>
        </p:nvSpPr>
        <p:spPr>
          <a:xfrm>
            <a:off x="485775" y="3786132"/>
            <a:ext cx="3034531" cy="27430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glDrawElements(GL_TRIANGLES, 18, GL_UNSIGNED_INT, 0)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3520306" y="3845068"/>
            <a:ext cx="510524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executes the actual drawing based on the configured VAO and EBO. It renders 18 indices as triangles,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485775" y="4072942"/>
            <a:ext cx="200962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which forms the complete Austrian flag.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485775" y="4317616"/>
            <a:ext cx="82296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Buffer Swapping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485775" y="4592650"/>
            <a:ext cx="1477026" cy="27430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5"/>
          <p:cNvSpPr/>
          <p:nvPr/>
        </p:nvSpPr>
        <p:spPr>
          <a:xfrm>
            <a:off x="485775" y="4592650"/>
            <a:ext cx="1477026" cy="27430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glfwSwapBuffers(window)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1962801" y="4651586"/>
            <a:ext cx="657928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displays the newly rendered frame to the screen. This technique prevents flickering by using double buffering—drawing off-screen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485775" y="4879460"/>
            <a:ext cx="203940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and then displaying the complete frame.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148023"/>
            <a:ext cx="57150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00000"/>
                </a:solidFill>
              </a:rPr>
              <a:t>Summary of the Learning Experience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428625" y="2152390"/>
            <a:ext cx="5715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PROJECT SUCCESS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2384561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Successfully implemented a 2D graphic (the Austrian flag) using a modern OpenGL 3.3 Core Profile setup with C++ and essential graphics libraries.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428625" y="2884624"/>
            <a:ext cx="5715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KEY SKILL LEARNED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3116796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fundamental workflow of an OpenGL application: setup, data buffering, shader compilation, and the rendering loop that brings graphics to life.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28625" y="3616858"/>
            <a:ext cx="5715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FUTURE EXPANSION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384903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This basic structure can be extended to render complex 3D models, apply textures, implement advanced lighting effects, and create interactive graphics.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28625" y="4349093"/>
            <a:ext cx="5715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D2939"/>
                </a:solidFill>
              </a:rPr>
              <a:t>CALL TO ACTION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28625" y="458126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Explore the shaders and vertex data to understand how simple changes can drastically alter the final output. Continue learning and experimenting with graphics programming.</a:t>
            </a:r>
            <a:endParaRPr lang="en-US" sz="78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1888238"/>
            <a:ext cx="2428875" cy="13669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2025-12-10T09:39:51Z</dcterms:created>
  <dcterms:modified xsi:type="dcterms:W3CDTF">2025-12-10T09:39:51Z</dcterms:modified>
</cp:coreProperties>
</file>